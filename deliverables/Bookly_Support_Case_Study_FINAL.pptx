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a45aa6b09d46b5" /><Relationship Type="http://schemas.openxmlformats.org/officeDocument/2006/relationships/extended-properties" Target="/docProps/app.xml" Id="R05b4cdcad06c45dd" /><Relationship Type="http://schemas.openxmlformats.org/officeDocument/2006/relationships/officeDocument" Target="/ppt/presentation.xml" Id="R5874d13f463f49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af96475484f2a"/>
  </p:sldMasterIdLst>
  <p:notesMasterIdLst>
    <p:notesMasterId xmlns:r="http://schemas.openxmlformats.org/officeDocument/2006/relationships" r:id="R0f4318826ff3455f"/>
  </p:notesMasterIdLst>
  <p:sldIdLst>
    <p:sldId xmlns:r="http://schemas.openxmlformats.org/officeDocument/2006/relationships" id="256" r:id="R6b4abc7389ca4a81"/>
    <p:sldId xmlns:r="http://schemas.openxmlformats.org/officeDocument/2006/relationships" id="257" r:id="R667a14cc2e014f80"/>
    <p:sldId xmlns:r="http://schemas.openxmlformats.org/officeDocument/2006/relationships" id="258" r:id="Rfeb7edd47af74719"/>
    <p:sldId xmlns:r="http://schemas.openxmlformats.org/officeDocument/2006/relationships" id="259" r:id="R013929280ceb4e34"/>
    <p:sldId xmlns:r="http://schemas.openxmlformats.org/officeDocument/2006/relationships" id="260" r:id="R277ad8130f124a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4f6d8681d846a7" /><Relationship Type="http://schemas.openxmlformats.org/officeDocument/2006/relationships/slideMaster" Target="/ppt/slideMasters/slideMaster1.xml" Id="Rf7caf96475484f2a" /><Relationship Type="http://schemas.openxmlformats.org/officeDocument/2006/relationships/notesMaster" Target="/ppt/notesMasters/notesMaster1.xml" Id="R0f4318826ff3455f" /><Relationship Type="http://schemas.openxmlformats.org/officeDocument/2006/relationships/presProps" Target="/ppt/presProps.xml" Id="Rbb0359b4d50e41af" /><Relationship Type="http://schemas.openxmlformats.org/officeDocument/2006/relationships/tableStyles" Target="/ppt/tableStyles.xml" Id="Rc81f97e05ff4401e" /><Relationship Type="http://schemas.openxmlformats.org/officeDocument/2006/relationships/slide" Target="/ppt/slides/slide1.xml" Id="R6b4abc7389ca4a81" /><Relationship Type="http://schemas.openxmlformats.org/officeDocument/2006/relationships/slide" Target="/ppt/slides/slide2.xml" Id="R667a14cc2e014f80" /><Relationship Type="http://schemas.openxmlformats.org/officeDocument/2006/relationships/slide" Target="/ppt/slides/slide3.xml" Id="Rfeb7edd47af74719" /><Relationship Type="http://schemas.openxmlformats.org/officeDocument/2006/relationships/slide" Target="/ppt/slides/slide4.xml" Id="R013929280ceb4e34" /><Relationship Type="http://schemas.openxmlformats.org/officeDocument/2006/relationships/slide" Target="/ppt/slides/slide5.xml" Id="R277ad8130f12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3318fd769c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1c9499cd9428d" /><Relationship Type="http://schemas.openxmlformats.org/officeDocument/2006/relationships/notesMaster" Target="/ppt/notesMasters/notesMaster1.xml" Id="Ra6cdb3c442d343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a4e8aadcaa4161" /><Relationship Type="http://schemas.openxmlformats.org/officeDocument/2006/relationships/notesMaster" Target="/ppt/notesMasters/notesMaster1.xml" Id="R86d9263131184e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21dab2a08249cf" /><Relationship Type="http://schemas.openxmlformats.org/officeDocument/2006/relationships/notesMaster" Target="/ppt/notesMasters/notesMaster1.xml" Id="R3ea86efd27284a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7b8a48cb054cd8" /><Relationship Type="http://schemas.openxmlformats.org/officeDocument/2006/relationships/notesMaster" Target="/ppt/notesMasters/notesMaster1.xml" Id="R1bce6560fdf44c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b0113d61cf4d6e" /><Relationship Type="http://schemas.openxmlformats.org/officeDocument/2006/relationships/notesMaster" Target="/ppt/notesMasters/notesMaster1.xml" Id="Rd1873d790a714a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customer promise: the agent can resolve common support work while making every decision inspectable. The demo will show both the customer experience and the evaluator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scope is intentionally narrow. Order tracking proves secure retrieval. Returns prove multi-turn disambiguation and a tool-backed write. The same session links the two workflows, which demonstrates memory rather than isolated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interface sends the message and compact session state to a server route. The orchestrator owns dialogue state. Typed tools own business actions. Demo mode is deterministic so the interview does not depend on model variance. If OPENAI_API_KEY and OPENAI_MODEL are supplied, the same endpoint can use the OpenAI Responses API tool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distinction between a read and a write. Identity is required before order data appears. Eligibility must come from the tool. The UI shows a complete proposal before the agent asks for consent. create_return checks for an existing record so repeated submissions remain safe.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happy path in roughly ninety seconds. Then use one short adversarial prompt or the B-5000 failure case to prove fail-closed behavior. Close with the explicit tradeoff: deterministic mode protects demo reliability, while the optional Responses API path proves the architecture can support model-led conversation without changing the tool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4233f137344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8b238da69f4dbd" /><Relationship Type="http://schemas.openxmlformats.org/officeDocument/2006/relationships/slideLayout" Target="/ppt/slideLayouts/slideLayout1.xml" Id="R65300a1acf124b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300a1acf124b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5e4b870304510" /><Relationship Type="http://schemas.openxmlformats.org/officeDocument/2006/relationships/image" Target="/ppt/media/image.png" Id="R46b1757cce224f34" /><Relationship Type="http://schemas.openxmlformats.org/officeDocument/2006/relationships/notesSlide" Target="/ppt/notesSlides/notesSlide1.xml" Id="R28a016580b8842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a947856264586" /><Relationship Type="http://schemas.openxmlformats.org/officeDocument/2006/relationships/image" Target="/ppt/media/image.jpeg" Id="Rebd309cd5acf4043" /><Relationship Type="http://schemas.openxmlformats.org/officeDocument/2006/relationships/image" Target="/ppt/media/image2.jpeg" Id="R89a60f51399942a6" /><Relationship Type="http://schemas.openxmlformats.org/officeDocument/2006/relationships/notesSlide" Target="/ppt/notesSlides/notesSlide2.xml" Id="R01f7c716c5994e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ded6518384f8e" /><Relationship Type="http://schemas.openxmlformats.org/officeDocument/2006/relationships/notesSlide" Target="/ppt/notesSlides/notesSlide3.xml" Id="R33c4ff8eb28149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caee490974a57" /><Relationship Type="http://schemas.openxmlformats.org/officeDocument/2006/relationships/notesSlide" Target="/ppt/notesSlides/notesSlide4.xml" Id="R41467abea72840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63aadd11a410d" /><Relationship Type="http://schemas.openxmlformats.org/officeDocument/2006/relationships/notesSlide" Target="/ppt/notesSlides/notesSlide5.xml" Id="R4c19ace401c648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1757cce224f3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0B8B1-08C8-4435-A919-972D0FCA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rPr>
              <a:t>Bookly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59157-8D9C-4C33-9F5C-8C4FC786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AI customer care that acts without guessing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8E273-88F0-4A82-AEE6-7A38F4F0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4A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E3B23-13B5-4B14-A578-431D4284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Solutions Engineer case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1278C-8B2A-417F-86F9-E816F436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Michael McCuish</a:t>
            </a:r>
          </a:p>
        </p:txBody>
      </p:sp>
    </p:spTree>
    <p:extLst>
      <p:ext uri="{BB962C8B-B14F-4D97-AF65-F5344CB8AC3E}">
        <p14:creationId xmlns:p14="http://schemas.microsoft.com/office/powerpoint/2010/main" val="459015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1BE8C-75CC-4795-A3C8-D5C8FFC4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3879E-91B6-416D-805A-0AD1204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A narrow scope proves the difficult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CE623-D099-45FA-A414-250F8827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Two connected workflows cover retrieval, clarification, memory and a consequential write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E73B3-E33B-4E1E-9F21-D5A54169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CFC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309cd5acf4043"/>
          <a:srcRect xmlns:a="http://schemas.openxmlformats.org/drawingml/2006/main" l="0" t="7377" r="0" b="7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266950"/>
            <a:ext cx="1200150" cy="173355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60f51399942a6"/>
          <a:srcRect xmlns:a="http://schemas.openxmlformats.org/drawingml/2006/main" l="0" t="2381" r="0" b="2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2100" y="2724150"/>
            <a:ext cx="1200150" cy="173355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11A2F-BAFC-4D51-A6A6-7450E144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rPr>
              <a:t>ORDER TRACKING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007B6-9337-4616-B438-7FF06641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Verify before revealing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6B80B-CBC2-4853-8654-DFC6631D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3524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The agent matches order number and email, retrieves the order through a tool, and stores only the verified session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9941F-9B44-46CB-8F4D-9E3184CC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rPr>
              <a:t>RETURN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8465B-5811-45F9-99A1-999EE0F9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Clarify before acting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AAA92-FC41-450E-AB38-FCC735B2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71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The agent reuses verified order context, identifies the exact item and reason, checks policy, then pauses for explicit confirmation.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2BE59-2EF3-4F9D-8FAC-52C5FACB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A89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49D93-FCE8-4BAF-957A-0C710C29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B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E6B48"/>
                </a:solidFill>
                <a:latin typeface="Helvetica Neue"/>
                <a:ea typeface="Helvetica Neue"/>
                <a:cs typeface="Helvetica Neue"/>
              </a:rPr>
              <a:t>The Agent Inspector exposes intent, memory, tool calls and guardrail decisions beside the conversation.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15A2D-EE71-48C1-893C-451ADB8A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197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The customer sees a calm conversation. The evaluator can see why the agent behaved that way.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32E19-467A-4AF7-A845-72C6414F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86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67D"/>
                </a:solidFill>
                <a:latin typeface="Helvetica Neue"/>
                <a:ea typeface="Helvetica Neue"/>
                <a:cs typeface="Helvetica Neue"/>
              </a:rPr>
              <a:t>MICHAEL MCCUISH  /  DECAGON SE TAKE-HOME</a:t>
            </a:r>
          </a:p>
        </p:txBody>
      </p:sp>
    </p:spTree>
    <p:extLst>
      <p:ext uri="{BB962C8B-B14F-4D97-AF65-F5344CB8AC3E}">
        <p14:creationId xmlns:p14="http://schemas.microsoft.com/office/powerpoint/2010/main" val="14517072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192DF-B5AA-419B-A5D6-273A7828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A0546-24D8-49FA-BF0C-C735AE46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8B766-44AA-419B-A6FF-43400BEF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A reliable demo engine and an optional model path share the same typed tools and safety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DA231-2F96-4E1D-9A3A-DF833881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CF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88DC2-036F-41CD-8452-7EEA7C22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428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4288">
            <a:solidFill>
              <a:srgbClr val="8EA897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B4848-1BE5-41AB-95BE-60757708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33625"/>
            <a:ext cx="2095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8F4EC"/>
          </a:solidFill>
          <a:ln xmlns:a="http://schemas.openxmlformats.org/drawingml/2006/main" w="14288">
            <a:solidFill>
              <a:srgbClr val="CB4A1B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React chat</a:t>
            </a:r>
          </a:p>
          <a:p xmlns:a="http://schemas.openxmlformats.org/drawingml/2006/main">
            <a:pPr algn="ctr">
              <a:def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+ Agent Inspector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34D06-4D26-4042-B009-060B2984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33625"/>
            <a:ext cx="20764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8362C"/>
          </a:solidFill>
          <a:ln xmlns:a="http://schemas.openxmlformats.org/drawingml/2006/main" w="14288">
            <a:solidFill>
              <a:srgbClr val="18362C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Agent orchestrator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8F2AF-00A2-4D3A-AD3C-6AFAF9F5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33625"/>
            <a:ext cx="2190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8F4EC"/>
          </a:solidFill>
          <a:ln xmlns:a="http://schemas.openxmlformats.org/drawingml/2006/main" w="14288">
            <a:solidFill>
              <a:srgbClr val="CB4A1B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Typed Bookly tools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28860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EA897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19650" y="2886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EA897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81900" y="28860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EA897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90DFC-7E71-47E6-8476-627262F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6B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6B48"/>
                </a:solidFill>
                <a:latin typeface="Helvetica Neue"/>
                <a:ea typeface="Helvetica Neue"/>
                <a:cs typeface="Helvetica Neue"/>
              </a:rPr>
              <a:t>Deterministic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C988D-C0DF-4BA0-A83E-D406391A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stable for live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1459B-A215-47B8-A21F-863ED698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rPr>
              <a:t>Optional Responses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07A85-6E2D-4F69-9BB3-558C54F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05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same tools, model-led dialogue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BCD44-076E-4016-805E-BA02DD72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CF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70384-E6A2-49E6-99C6-2DD83110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find_order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2F2AC-609E-40F3-AE57-61D8AA70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62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get_policy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D344B-A6A2-4C40-9639-38D1C3AE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62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check_return_eligibility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0E18C-07B3-46C8-8392-88386368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62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create_return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01681-8358-4C6C-8925-9B775681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62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human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1B129-59D1-4A08-AE17-1D6465EA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674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6B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6B48"/>
                </a:solidFill>
                <a:latin typeface="Helvetica Neue"/>
                <a:ea typeface="Helvetica Neue"/>
                <a:cs typeface="Helvetica Neue"/>
              </a:rPr>
              <a:t>Server-side API route keeps tool execution and credentials outside the browser.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7F45C-B758-45D5-AAE5-3D21E22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86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67D"/>
                </a:solidFill>
                <a:latin typeface="Helvetica Neue"/>
                <a:ea typeface="Helvetica Neue"/>
                <a:cs typeface="Helvetica Neue"/>
              </a:rPr>
              <a:t>MICHAEL MCCUISH  /  DECAGON SE TAKE-HOME</a:t>
            </a:r>
          </a:p>
        </p:txBody>
      </p:sp>
    </p:spTree>
    <p:extLst>
      <p:ext uri="{BB962C8B-B14F-4D97-AF65-F5344CB8AC3E}">
        <p14:creationId xmlns:p14="http://schemas.microsoft.com/office/powerpoint/2010/main" val="18040878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DEED21-5B1E-4F52-9957-33222A0C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B4A1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AB458-AE1D-4D42-9B49-8BA49E6D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Guardrails at each decision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8CF0C-EC43-413E-BF7F-3E84E56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The agent earns permission step by step and fails closed when evidence is missing.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AF74F-D4EF-4C1E-B6D9-8C27909B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CF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CE4AB-AE1A-4A0D-A636-8E29A32D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6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0AF0A-60CB-458D-B8BA-82BF1087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81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9DE91-A980-4866-B96C-C971D299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Identify the supported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56CA7-B5B6-4F8F-9DF5-1BDBF95E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6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D81B3-E30B-4F1B-9676-857F0AF6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81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2793D-C657-4D00-A095-C5B70962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147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Match order number and email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D66F3-738F-4634-8E05-DCDAE3FF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A89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B7A7D-2D13-40D6-A594-33B0586B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6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438AB-8A1B-4E6E-AE4B-77A1C64A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81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5391A-6217-4FD0-A14E-94BAEF39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147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Use tool output and approved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1F55F-59CC-4195-A668-7AE30FCC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03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A8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F5A00-5CB3-4FB4-9E7A-04D37864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6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55C75-B5E2-432D-A5EA-22BC4C62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81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Proposal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7876D-9799-4264-BCBF-DDE17FAF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147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Show item, reason and refund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A114A-7EBA-4349-8A6B-21BA4A85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003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A89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1DB03-157E-42C5-9B13-BD7FEA1D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6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FE42D-61E1-472A-92C6-D19F1B6C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81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Consent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4AF85-0296-4567-BED7-2115104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Require an explicit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4CF2D-9D55-4D82-89CB-6BA47B29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A89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C421F-7020-4234-87FD-B05F998E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4A1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2E4BC-9164-4138-9ED3-C93729A6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81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Write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101C3-6F88-4CD6-897A-F88FC716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46D"/>
                </a:solidFill>
                <a:latin typeface="Helvetica Neue"/>
                <a:ea typeface="Helvetica Neue"/>
                <a:cs typeface="Helvetica Neue"/>
              </a:rPr>
              <a:t>Create one idempotent return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027AF-7340-439B-BB20-B6E67794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03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A89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E99752-CEF6-408F-9CA4-F21CB027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CF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AE9AFC-F62E-49A9-A4D7-7F327A02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3434"/>
                </a:solidFill>
                <a:latin typeface="Helvetica Neue"/>
                <a:ea typeface="Helvetica Neue"/>
                <a:cs typeface="Helvetica Neue"/>
              </a:rPr>
              <a:t>INJECTION ATTEMPT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BF876-BC08-4311-9B56-6C101397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Blocks the request and reveals no customer 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79C8BA-6326-42BB-BA8F-39FD2CBB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3434"/>
                </a:solidFill>
                <a:latin typeface="Helvetica Neue"/>
                <a:ea typeface="Helvetica Neue"/>
                <a:cs typeface="Helvetica Neue"/>
              </a:rPr>
              <a:t>TOOL OUTAGE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EA7B5C-50B2-402B-9B87-947E627D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625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Refuses to invent order status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6A2B6-2D28-45B5-A664-9E3FCFF0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3434"/>
                </a:solidFill>
                <a:latin typeface="Helvetica Neue"/>
                <a:ea typeface="Helvetica Neue"/>
                <a:cs typeface="Helvetica Neue"/>
              </a:rPr>
              <a:t>REPEATED SUBMISSION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BEFE2-431A-4337-B2D8-751C72A9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62C"/>
                </a:solidFill>
                <a:latin typeface="Helvetica Neue"/>
                <a:ea typeface="Helvetica Neue"/>
                <a:cs typeface="Helvetica Neue"/>
              </a:rPr>
              <a:t>Stops a duplicate return write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C19326-33B8-49DA-A08B-3DF7172E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6265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6B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6B48"/>
                </a:solidFill>
                <a:latin typeface="Helvetica Neue"/>
                <a:ea typeface="Helvetica Neue"/>
                <a:cs typeface="Helvetica Neue"/>
              </a:rPr>
              <a:t>Each blocked or waiting decision appears in the Agent Inspector during the demo.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1FDD70-1750-4439-883B-AEE36FB7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86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67D"/>
                </a:solidFill>
                <a:latin typeface="Helvetica Neue"/>
                <a:ea typeface="Helvetica Neue"/>
                <a:cs typeface="Helvetica Neue"/>
              </a:rPr>
              <a:t>MICHAEL MCCUISH  /  DECAGON SE TAKE-HOME</a:t>
            </a:r>
          </a:p>
        </p:txBody>
      </p:sp>
    </p:spTree>
    <p:extLst>
      <p:ext uri="{BB962C8B-B14F-4D97-AF65-F5344CB8AC3E}">
        <p14:creationId xmlns:p14="http://schemas.microsoft.com/office/powerpoint/2010/main" val="657895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3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65878-B441-4B2B-A5B2-C6382D13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9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99A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BBE0D-0AAE-4D6A-81A0-A6A12796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Evaluation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4E4CA-7BA2-4657-B30E-582FE0D0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rPr>
              <a:t>The implementation is ready for a reliable live demo and an honest production discussion.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A0AAD-D04D-4E96-83DA-A2D56130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271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C3F7D-61CD-4E3E-A1FD-12CADAE0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39A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39A6C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6C539-3D02-4519-8795-066A749A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automated scenarios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11885-F999-4FE8-87D9-8FC454EF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3143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rPr>
              <a:t>Identity mismatch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rPr>
              <a:t>Prompt injection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rPr>
              <a:t>Tool outage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rPr>
              <a:t>Duplicate write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rPr>
              <a:t>Multi-turn return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rPr>
              <a:t>Delivered-order eligibility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E660B-7ADC-4D86-B0B4-F03A9C8F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7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9A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39A6C"/>
                </a:solidFill>
                <a:latin typeface="Helvetica Neue"/>
                <a:ea typeface="Helvetica Neue"/>
                <a:cs typeface="Helvetica Neue"/>
              </a:rPr>
              <a:t>DEMO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98435-C8D9-41B1-9281-7E5F45B1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1  Track B-1042 after identity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2  Return the second book because it arrived damaged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D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DF9"/>
                </a:solidFill>
                <a:latin typeface="Helvetica Neue"/>
                <a:ea typeface="Helvetica Neue"/>
                <a:cs typeface="Helvetica Neue"/>
              </a:rPr>
              <a:t>3  Review the proposal, then confirm the write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3BD73-E1EB-41B1-9D0F-B86670BB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C4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C4AE"/>
                </a:solidFill>
                <a:latin typeface="Helvetica Neue"/>
                <a:ea typeface="Helvetica Neue"/>
                <a:cs typeface="Helvetica Neue"/>
              </a:rPr>
              <a:t>Production follow-through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72B86-BBA5-4C12-BA79-3F02A28C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1495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DD8D1"/>
                </a:solidFill>
                <a:latin typeface="Helvetica Neue"/>
                <a:ea typeface="Helvetica Neue"/>
                <a:cs typeface="Helvetica Neue"/>
              </a:rPr>
              <a:t>Add authenticated customer context, durable session storage, observability and a real human handoff integration.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6366F-F411-4F22-92B9-A3E773F6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34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C4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FC4AE"/>
                </a:solidFill>
                <a:latin typeface="Helvetica Neue"/>
                <a:ea typeface="Helvetica Neue"/>
                <a:cs typeface="Helvetica Neue"/>
              </a:rPr>
              <a:t>Validated with lint, TypeScript checks and a production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01544-85F8-4C41-9C46-611313A1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1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9AB1A4"/>
                </a:solidFill>
                <a:latin typeface="Helvetica Neue"/>
                <a:ea typeface="Helvetica Neue"/>
                <a:cs typeface="Helvetica Neue"/>
              </a:rPr>
              <a:t>MICHAEL MCCUISH  /  DECAGON SE TAKE-HOME</a:t>
            </a:r>
          </a:p>
        </p:txBody>
      </p:sp>
    </p:spTree>
    <p:extLst>
      <p:ext uri="{BB962C8B-B14F-4D97-AF65-F5344CB8AC3E}">
        <p14:creationId xmlns:p14="http://schemas.microsoft.com/office/powerpoint/2010/main" val="469652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2026-09-14T02:59:05.3040000Z</dcterms:created>
  <dcterms:modified xsi:type="dcterms:W3CDTF">2026-09-14T02:59:05.3040000Z</dcterms:modified>
</coreProperties>
</file>